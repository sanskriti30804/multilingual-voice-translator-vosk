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58" r:id="rId5"/>
    <p:sldId id="273" r:id="rId6"/>
    <p:sldId id="274" r:id="rId7"/>
    <p:sldId id="275" r:id="rId8"/>
    <p:sldId id="276" r:id="rId9"/>
    <p:sldId id="259" r:id="rId10"/>
    <p:sldId id="269" r:id="rId11"/>
    <p:sldId id="270" r:id="rId12"/>
    <p:sldId id="260" r:id="rId13"/>
    <p:sldId id="262" r:id="rId14"/>
    <p:sldId id="261" r:id="rId15"/>
    <p:sldId id="271" r:id="rId16"/>
    <p:sldId id="272" r:id="rId17"/>
    <p:sldId id="266" r:id="rId18"/>
    <p:sldId id="277" r:id="rId19"/>
    <p:sldId id="267" r:id="rId20"/>
    <p:sldId id="263" r:id="rId21"/>
    <p:sldId id="26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9A7-DC78-3CB3-7F00-929E421E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783-8B8F-B836-F68D-81BDF16A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82BE-60AE-D797-7868-81B8EF46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0722-9270-7EDB-981C-B923AA0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731-DBE6-4F74-E2CF-7659DBC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AFF-E64A-AF8D-BBC2-E5AB94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B9A4-3B4F-7FE6-9B28-F5EF72B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3C0-5E6E-B28A-6C22-06D9AC47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FA3B-4073-0F86-8AC8-81E0E4C3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69F-612E-B784-B48A-95AA0791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66B-106E-C76B-9CE8-1B9A4AE5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AF0E-E8F2-1B19-B65C-0E1CC081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FFB13-732B-DEF8-DBEC-5F73E23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3C03-C9D7-F051-B57E-8DA06873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1B14-3A56-41BB-4E4A-4735998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4A9C-028F-0B55-463A-1087581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66EC-9430-6B3D-E0CE-0A71B38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26AD1-F80A-C09B-B640-E65D99E6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293B4-0027-A04C-BA3E-441C93A1D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42C3-BCA9-FB95-D8DC-7F3044AD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8EFB4-7BB2-F8E3-21FC-7E4A10DFD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1C773-744A-FCD3-C078-3DC992C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6583-570F-F397-D583-9963BD0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8FC52-BDE3-9E21-7004-9001CC6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7DB-BC11-A965-7D47-A830627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9EBB-66AC-0A22-FB25-AA24D18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C889-A42D-7ECD-6189-48F6199C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D6C85-1A5C-85A2-D47F-73050C49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A96-DA53-0AED-0F58-E803782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08AC-42F9-A3E6-20C6-19B6AFB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749-EC75-7164-FBE8-61C5FD95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E5F6-B24D-5E61-DC38-DA3F87B3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E6B7-31E9-4177-5C1F-03A7DBD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0E19-657E-B541-E036-959BA418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AEC1-909F-60C3-702B-6244A8A7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E6BA-2E7B-3E57-2F0C-5F2FD1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1D75-64B2-1389-FADB-ED9520B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62D-CF25-FD3A-5B0C-AFA7F0A7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E524-18D7-464E-3F34-14CBF4862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348-99C4-F005-5D92-24A299F9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898F6-D595-1FDE-2158-79E6686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7F9F-625D-1107-9BCE-138B298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0215-9ED1-CB53-652D-46D93AD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E86-64B7-9F0A-5001-6F43A0F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D706-8AAA-2524-04BB-26C46242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778-061C-459E-CD0C-58DCA0CF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E4EF-7849-CFF9-1385-7BDB42DF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96F9-D0E3-05A9-C32F-CCFCFCE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4E30-06E1-5212-4B6D-25886B9C3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C275C-3D2D-2452-9149-89BBE7CA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31ED-A5B2-3FF2-8E5C-283664AB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8846-9586-A23A-3D98-740B85E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7319-B31F-9567-7E64-8BEAB1A3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6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79A75-0843-3E26-FA3D-7955B43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EE1-247A-E887-762B-4BC2DBFD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F53D-E00E-7D7F-402F-506A960A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DC96-5252-D529-FF28-16B0D99D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C6E2-66C6-AF10-CC28-03DE3A9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lphacephei.com/vosk/" TargetMode="External"/><Relationship Id="rId2" Type="http://schemas.openxmlformats.org/officeDocument/2006/relationships/hyperlink" Target="https://kaldi-asr.org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i.googleblog.com/2016/09/a-neural-network-for-machine.html" TargetMode="External"/><Relationship Id="rId2" Type="http://schemas.openxmlformats.org/officeDocument/2006/relationships/hyperlink" Target="https://libretranslate.com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lphacephei.com/vosk/" TargetMode="External"/><Relationship Id="rId2" Type="http://schemas.openxmlformats.org/officeDocument/2006/relationships/hyperlink" Target="https://research.google/pubs/pub45610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kaldi-asr.org/" TargetMode="External"/><Relationship Id="rId2" Type="http://schemas.openxmlformats.org/officeDocument/2006/relationships/hyperlink" Target="https://alphacephei.com/vosk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oracle.com/javase/" TargetMode="External"/><Relationship Id="rId4" Type="http://schemas.openxmlformats.org/officeDocument/2006/relationships/hyperlink" Target="https://libretranslate.com/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41921"/>
            <a:ext cx="9144000" cy="97819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Multiple Language Translator</a:t>
            </a:r>
            <a:br>
              <a:rPr lang="en-IN" dirty="0"/>
            </a:br>
            <a:r>
              <a:rPr lang="en-IN" b="1" dirty="0"/>
              <a:t>Using </a:t>
            </a:r>
            <a:r>
              <a:rPr lang="en-IN" b="1" dirty="0" err="1"/>
              <a:t>Vosk</a:t>
            </a:r>
            <a:r>
              <a:rPr lang="en-IN" b="1" dirty="0"/>
              <a:t> API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/>
          <a:lstStyle/>
          <a:p>
            <a:r>
              <a:rPr lang="en-IN" dirty="0"/>
              <a:t>Submitted By:</a:t>
            </a:r>
            <a:br>
              <a:rPr lang="en-IN" dirty="0"/>
            </a:br>
            <a:r>
              <a:rPr lang="en-IN" dirty="0" err="1"/>
              <a:t>Sanskriti</a:t>
            </a:r>
            <a:r>
              <a:rPr lang="en-IN" dirty="0"/>
              <a:t> Mandal</a:t>
            </a:r>
          </a:p>
          <a:p>
            <a:r>
              <a:rPr lang="en-IN" dirty="0"/>
              <a:t>23FE10CSE00297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427495" y="4883885"/>
            <a:ext cx="3687094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Supervised By:</a:t>
            </a:r>
            <a:br>
              <a:rPr lang="en-IN" dirty="0"/>
            </a:br>
            <a:r>
              <a:rPr lang="en-IN" dirty="0"/>
              <a:t>Rajesh Kumar Chaudhary</a:t>
            </a:r>
          </a:p>
          <a:p>
            <a:endParaRPr lang="en-IN" dirty="0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Proposed Solution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Results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CBAB6-2047-0F0B-379D-61651920D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57375-B759-3460-1A99-30B5067EE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1D393D4-1077-7EF8-15EC-2408B15B3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961" y="1383151"/>
            <a:ext cx="1098287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today’s globalized world, communication across different languages is a major challenge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People from different regions often face difficulties in understanding each other due to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language barriers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translation methods are slow and require manual input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advancements in Artificial Intelligence, real-time speech recognition and translation have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become possible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technologies enable seamless and instant communication between individuals speaking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different languages </a:t>
            </a:r>
          </a:p>
        </p:txBody>
      </p:sp>
    </p:spTree>
    <p:extLst>
      <p:ext uri="{BB962C8B-B14F-4D97-AF65-F5344CB8AC3E}">
        <p14:creationId xmlns:p14="http://schemas.microsoft.com/office/powerpoint/2010/main" val="3348538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A96B-B72E-0C72-F61B-C99183D10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8E48C9-AE9E-37A5-DE68-710AE1D7A5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3904" y="2131208"/>
            <a:ext cx="11075468" cy="2595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recognition systems convert spoken language into text automatically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combined with translation systems, they provide real-time multilingual communication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developing a system that integrates speech recognition and translation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aim is to create 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real-time, user-friendly multilingual translator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enhances accessibility, communication efficiency, and user convenience </a:t>
            </a:r>
          </a:p>
        </p:txBody>
      </p:sp>
    </p:spTree>
    <p:extLst>
      <p:ext uri="{BB962C8B-B14F-4D97-AF65-F5344CB8AC3E}">
        <p14:creationId xmlns:p14="http://schemas.microsoft.com/office/powerpoint/2010/main" val="287897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ABE9F-5A87-EE6F-5529-D88CCAFF5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9C4A7-65F9-DC0C-7209-8D9643D19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</a:t>
            </a:r>
            <a:r>
              <a:rPr lang="en-IN" dirty="0" err="1"/>
              <a:t>Vosk</a:t>
            </a:r>
            <a:r>
              <a:rPr lang="en-IN" dirty="0"/>
              <a:t>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EEFAACC-3A17-0DD2-B057-5DEFE57DD4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-734960" y="3101918"/>
            <a:ext cx="184731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3335DCA-9177-BC3C-39A4-9FAAFDD80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422" y="2240144"/>
            <a:ext cx="798327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Vosk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offline speech recognition toolkit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Kaldi engine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speech into text in real-time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Works without internet connection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multiple programming languages like Java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hybrid HMM + Deep Neural Network (DNN) models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57334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DCEE5-231B-C1F5-2C27-CA40FAAD4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93904-EEAD-6039-7FA8-1F0F95A29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</a:t>
            </a:r>
            <a:r>
              <a:rPr lang="en-IN" dirty="0" err="1"/>
              <a:t>Vosk</a:t>
            </a:r>
            <a:r>
              <a:rPr lang="en-IN" dirty="0"/>
              <a:t> Works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AD8F91B-72C4-CA7B-1BF0-EB5428D67E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365392"/>
            <a:ext cx="23391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706C63C-FADA-70D5-1328-E4A21D431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2388" y="2136339"/>
            <a:ext cx="927292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Captures audio from microphone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Extracts features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MFCC (Mel Frequency Cepstral Coefficients)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HMM + DNN for speech recognition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language model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form meaningful words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Viterbi algorithm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best sequence prediction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Generates text in real-time </a:t>
            </a:r>
          </a:p>
        </p:txBody>
      </p:sp>
    </p:spTree>
    <p:extLst>
      <p:ext uri="{BB962C8B-B14F-4D97-AF65-F5344CB8AC3E}">
        <p14:creationId xmlns:p14="http://schemas.microsoft.com/office/powerpoint/2010/main" val="2368193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B96F9-851C-A21D-6421-60E9CFFDD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D3C0C-F490-6F74-827F-7D832260A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 of </a:t>
            </a:r>
            <a:r>
              <a:rPr lang="en-IN" dirty="0" err="1"/>
              <a:t>Vosk</a:t>
            </a:r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ABB0108-982E-1D64-BE46-3A8FCA8D42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03820"/>
            <a:ext cx="719299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20+ languages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(English, Hindi, Spanish, etc.)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offline → no internet required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streaming recognition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pre-trained models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(small &amp; large)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Efficient and works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low-resource systems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privacy (local processing)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53201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D78D6-FD51-D58C-BEF8-76FF71D21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33D46-E316-C718-BB34-E8AEBAECD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Vosk</a:t>
            </a:r>
            <a:r>
              <a:rPr lang="en-IN" dirty="0"/>
              <a:t> Algorithm Working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E4C61C3-E97C-BCA6-4877-A605504D76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5748" y="2058013"/>
            <a:ext cx="691945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Audio signal is captured and converted into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vectors (MFCC)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Acoustic model (DNN)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predicts probabilities of phonemes (basic speech units)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Hidden Markov Model (HMM)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models sequence of phonemes over 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Language 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predicts most meaningful word combinations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Viterbi algorithm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finds the most probable word sequence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WFST decoder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efficiently maps speech → text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6482DF-EB9E-7C49-5415-9E40F019AB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365125"/>
            <a:ext cx="2526889" cy="59275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3E2739-432B-C36E-D25B-FAA4B9F086F5}"/>
              </a:ext>
            </a:extLst>
          </p:cNvPr>
          <p:cNvSpPr txBox="1"/>
          <p:nvPr/>
        </p:nvSpPr>
        <p:spPr>
          <a:xfrm>
            <a:off x="838200" y="5299587"/>
            <a:ext cx="6477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“</a:t>
            </a:r>
            <a:r>
              <a:rPr lang="en-IN" b="1" dirty="0" err="1"/>
              <a:t>Vosk</a:t>
            </a:r>
            <a:r>
              <a:rPr lang="en-IN" b="1" dirty="0"/>
              <a:t> uses a hybrid model combining Hidden Markov Models (HMM) and Deep Neural Networks (DNN), with Viterbi decoding and WFST-based search.”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213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647D-9B85-4135-FDC8-4412998CA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5F665-7E3B-0A75-0EE5-8FA0D35D2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Speech recognition systems have evolved significantly using AI and deep learning techniques </a:t>
            </a:r>
          </a:p>
          <a:p>
            <a:r>
              <a:rPr lang="en-IN" dirty="0"/>
              <a:t>Traditional systems were based on </a:t>
            </a:r>
            <a:r>
              <a:rPr lang="en-IN" b="1" dirty="0"/>
              <a:t>Hidden Markov Models (HMM)</a:t>
            </a:r>
            <a:r>
              <a:rPr lang="en-IN" dirty="0"/>
              <a:t>, while modern systems use </a:t>
            </a:r>
            <a:r>
              <a:rPr lang="en-IN" b="1" dirty="0"/>
              <a:t>Deep Neural Networks (DNN)</a:t>
            </a:r>
            <a:r>
              <a:rPr lang="en-IN" dirty="0"/>
              <a:t> </a:t>
            </a:r>
          </a:p>
          <a:p>
            <a:r>
              <a:rPr lang="en-IN" dirty="0"/>
              <a:t>Kaldi is widely used for building speech recognition systems </a:t>
            </a:r>
          </a:p>
          <a:p>
            <a:r>
              <a:rPr lang="en-IN" dirty="0" err="1"/>
              <a:t>Vosk</a:t>
            </a:r>
            <a:r>
              <a:rPr lang="en-IN" dirty="0"/>
              <a:t> is built on Kaldi and provides </a:t>
            </a:r>
            <a:r>
              <a:rPr lang="en-IN" b="1" dirty="0"/>
              <a:t>offline real-time speech recognition</a:t>
            </a:r>
            <a:r>
              <a:rPr lang="en-IN" dirty="0"/>
              <a:t> </a:t>
            </a:r>
          </a:p>
          <a:p>
            <a:r>
              <a:rPr lang="en-IN" dirty="0"/>
              <a:t>Research shows that hybrid HMM-DNN models improve accuracy in continuous speech recognition </a:t>
            </a:r>
          </a:p>
          <a:p>
            <a:r>
              <a:rPr lang="en-IN" b="1" dirty="0"/>
              <a:t>References:</a:t>
            </a:r>
            <a:endParaRPr lang="en-IN" dirty="0"/>
          </a:p>
          <a:p>
            <a:r>
              <a:rPr lang="en-IN" dirty="0">
                <a:hlinkClick r:id="rId2"/>
              </a:rPr>
              <a:t>https://kaldi-asr.org</a:t>
            </a:r>
            <a:r>
              <a:rPr lang="en-IN" dirty="0"/>
              <a:t> </a:t>
            </a:r>
          </a:p>
          <a:p>
            <a:r>
              <a:rPr lang="en-IN" dirty="0">
                <a:hlinkClick r:id="rId3"/>
              </a:rPr>
              <a:t>https://alphacephei.com/vosk/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308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B65BF-FAD1-5FB5-CF45-C70D6255A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6B7E6-08CA-971F-A6B8-9BF7F5307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F1C1C-0BA5-66B0-348C-8130B7673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Machine Translation has evolved from rule-based systems to </a:t>
            </a:r>
            <a:r>
              <a:rPr lang="en-US" b="1" dirty="0"/>
              <a:t>Neural Machine Translation (NMT)</a:t>
            </a:r>
            <a:r>
              <a:rPr lang="en-US" dirty="0"/>
              <a:t> </a:t>
            </a:r>
          </a:p>
          <a:p>
            <a:r>
              <a:rPr lang="en-US" dirty="0"/>
              <a:t>Modern systems use </a:t>
            </a:r>
            <a:r>
              <a:rPr lang="en-US" b="1" dirty="0"/>
              <a:t>sequence-to-sequence models and transformers</a:t>
            </a:r>
            <a:r>
              <a:rPr lang="en-US" dirty="0"/>
              <a:t> </a:t>
            </a:r>
          </a:p>
          <a:p>
            <a:r>
              <a:rPr lang="en-US" dirty="0"/>
              <a:t>APIs like </a:t>
            </a:r>
            <a:r>
              <a:rPr lang="en-US" b="1" dirty="0" err="1"/>
              <a:t>LibreTranslate</a:t>
            </a:r>
            <a:r>
              <a:rPr lang="en-US" dirty="0"/>
              <a:t> and Google Translate provide real-time translation services </a:t>
            </a:r>
          </a:p>
          <a:p>
            <a:r>
              <a:rPr lang="en-US" dirty="0"/>
              <a:t>Research shows that NMT improves translation quality and contextual understanding </a:t>
            </a:r>
          </a:p>
          <a:p>
            <a:r>
              <a:rPr lang="en-US" dirty="0"/>
              <a:t>Real-time translation systems combine speech recognition and machine translation for better usability </a:t>
            </a:r>
          </a:p>
          <a:p>
            <a:r>
              <a:rPr lang="en-US" b="1" dirty="0"/>
              <a:t>References:</a:t>
            </a:r>
            <a:endParaRPr lang="en-US" dirty="0"/>
          </a:p>
          <a:p>
            <a:r>
              <a:rPr lang="en-US" dirty="0">
                <a:hlinkClick r:id="rId2"/>
              </a:rPr>
              <a:t>https://libretranslate.com/</a:t>
            </a:r>
            <a:r>
              <a:rPr lang="en-US" dirty="0"/>
              <a:t> </a:t>
            </a:r>
          </a:p>
          <a:p>
            <a:r>
              <a:rPr lang="en-US" dirty="0">
                <a:hlinkClick r:id="rId3"/>
              </a:rPr>
              <a:t>https://ai.googleblog.com/2016/09/a-neural-network-for-machine.html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734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15657-B9F6-41C5-3147-E08FCB72E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BF7EF-20CD-8C90-10F7-02492884F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AA3C1-C4D3-B290-E56B-18617F212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Existing systems like Google Translate require </a:t>
            </a:r>
            <a:r>
              <a:rPr lang="en-US" b="1" dirty="0"/>
              <a:t>internet connectivity</a:t>
            </a:r>
            <a:r>
              <a:rPr lang="en-US" dirty="0"/>
              <a:t> </a:t>
            </a:r>
          </a:p>
          <a:p>
            <a:r>
              <a:rPr lang="en-US" dirty="0"/>
              <a:t>Many systems lack </a:t>
            </a:r>
            <a:r>
              <a:rPr lang="en-US" b="1" dirty="0"/>
              <a:t>real-time speech-to-speech translation</a:t>
            </a:r>
            <a:r>
              <a:rPr lang="en-US" dirty="0"/>
              <a:t> </a:t>
            </a:r>
          </a:p>
          <a:p>
            <a:r>
              <a:rPr lang="en-US" dirty="0"/>
              <a:t>Privacy concerns arise due to cloud-based processing </a:t>
            </a:r>
          </a:p>
          <a:p>
            <a:r>
              <a:rPr lang="en-US" dirty="0"/>
              <a:t>Offline tools like </a:t>
            </a:r>
            <a:r>
              <a:rPr lang="en-US" dirty="0" err="1"/>
              <a:t>Vosk</a:t>
            </a:r>
            <a:r>
              <a:rPr lang="en-US" dirty="0"/>
              <a:t> address privacy and latency issues </a:t>
            </a:r>
          </a:p>
          <a:p>
            <a:r>
              <a:rPr lang="en-US" b="1" dirty="0"/>
              <a:t>Research Gap:</a:t>
            </a:r>
            <a:r>
              <a:rPr lang="en-US" dirty="0"/>
              <a:t> Need for a system that is: </a:t>
            </a:r>
          </a:p>
          <a:p>
            <a:pPr lvl="1"/>
            <a:r>
              <a:rPr lang="en-US" dirty="0"/>
              <a:t>Real-time </a:t>
            </a:r>
          </a:p>
          <a:p>
            <a:pPr lvl="1"/>
            <a:r>
              <a:rPr lang="en-US" dirty="0"/>
              <a:t>Offline-capable </a:t>
            </a:r>
          </a:p>
          <a:p>
            <a:pPr lvl="1"/>
            <a:r>
              <a:rPr lang="en-US" dirty="0"/>
              <a:t>Multi-language supported </a:t>
            </a:r>
          </a:p>
          <a:p>
            <a:pPr lvl="1"/>
            <a:r>
              <a:rPr lang="en-US" dirty="0"/>
              <a:t>Lightweight and efficient </a:t>
            </a:r>
          </a:p>
          <a:p>
            <a:r>
              <a:rPr lang="en-US" b="1" dirty="0"/>
              <a:t>References:</a:t>
            </a:r>
            <a:endParaRPr lang="en-US" dirty="0"/>
          </a:p>
          <a:p>
            <a:r>
              <a:rPr lang="en-US" dirty="0">
                <a:hlinkClick r:id="rId2"/>
              </a:rPr>
              <a:t>https://research.google/pubs/pub45610/</a:t>
            </a:r>
            <a:r>
              <a:rPr lang="en-US" dirty="0"/>
              <a:t> </a:t>
            </a:r>
          </a:p>
          <a:p>
            <a:r>
              <a:rPr lang="en-US" dirty="0">
                <a:hlinkClick r:id="rId3"/>
              </a:rPr>
              <a:t>https://alphacephei.com/vosk/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124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Existing translation systems are not efficient for </a:t>
            </a:r>
            <a:r>
              <a:rPr lang="en-US" b="1" dirty="0"/>
              <a:t>real-time speech-to-speech communication</a:t>
            </a:r>
            <a:r>
              <a:rPr lang="en-US" dirty="0"/>
              <a:t> and often require internet connectivity.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58CF368-B147-0131-43F5-B427FB908B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59504"/>
            <a:ext cx="869597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system that converts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speech into text in real-time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translate the recognized text into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languages efficiently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output (text and optional speech)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and offline-capable translation 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39E3E7-B4BC-FE06-5933-DC9ED61A7C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1387" y="2297373"/>
            <a:ext cx="558226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captures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speech input from the user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Audio is processed using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Vosk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Speech Recognition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Speech is converted into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 format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text is sent to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translation module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Translated output is displayed to the user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D765D7-9C55-B71D-FF96-82E403F136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4065" y="218767"/>
            <a:ext cx="2251587" cy="642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85149-FCB9-F97D-3FFF-C19A9D23C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65678-C12D-189C-B955-D4F22E56B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Workflow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C77D092-080F-16F9-6A1B-01A1389739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6859" y="2960944"/>
            <a:ext cx="1841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clicks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Microphone captures speech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Vosk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converts speech → text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 is sent to translation API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Translated text is generated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is displayed (and optionally spoken)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11D219-2D60-9DED-04F5-822BD9EEF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26" y="4359155"/>
            <a:ext cx="11238271" cy="1040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2311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51EAA-FB46-AE39-30DF-833DEB9CC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E06EA-FA16-C53A-9FEA-CD0B96F8E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Interaction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916BE73-24CF-A6AE-ED44-43D8FBCC26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4050" y="2273199"/>
            <a:ext cx="1841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Module: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Captures voice input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Speech Recognition Module: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Converts audio to text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Translation Module: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Converts text into target language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Module: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Displays and speaks translated result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modules work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sequentially in real-time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0B0E28-DDC5-6C67-1D68-21C91CC37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4558" y="3429000"/>
            <a:ext cx="7722883" cy="3043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460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C9FAE-C685-2942-D3D4-216A6AC1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B33A6-B209-82E0-3AC4-ED0F2117C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C62D3BE-417D-C2C6-CBF8-70C66DFD4B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402101"/>
            <a:ext cx="9180871" cy="4372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successfully converts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speech to text in real-time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Accurate translation into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languages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output with minimal delay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Optional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text-to-speech output works correctly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Performs efficiently in normal speaking conditions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1800" dirty="0"/>
              <a:t>Speech Input → Text Output → Translated Text → Audio Output</a:t>
            </a:r>
          </a:p>
          <a:p>
            <a:pPr marL="0" indent="0">
              <a:buNone/>
            </a:pPr>
            <a:r>
              <a:rPr lang="en-IN" sz="1800" dirty="0"/>
              <a:t>Example:</a:t>
            </a:r>
          </a:p>
          <a:p>
            <a:pPr marL="0" indent="0">
              <a:buNone/>
            </a:pPr>
            <a:r>
              <a:rPr lang="en-IN" sz="1800" dirty="0"/>
              <a:t>Input: </a:t>
            </a:r>
            <a:r>
              <a:rPr lang="en-IN" sz="1800" i="1" dirty="0"/>
              <a:t>"Hello"</a:t>
            </a:r>
            <a:r>
              <a:rPr lang="en-IN" sz="1800" dirty="0"/>
              <a:t> </a:t>
            </a:r>
          </a:p>
          <a:p>
            <a:pPr marL="0" indent="0">
              <a:buNone/>
            </a:pPr>
            <a:r>
              <a:rPr lang="en-IN" sz="1800" dirty="0"/>
              <a:t>Output: </a:t>
            </a:r>
            <a:r>
              <a:rPr lang="en-IN" sz="1800" i="1" dirty="0"/>
              <a:t>"</a:t>
            </a:r>
            <a:r>
              <a:rPr lang="hi-IN" sz="1800" i="1" dirty="0"/>
              <a:t>नमस्ते"</a:t>
            </a:r>
            <a:r>
              <a:rPr lang="hi-IN" sz="1800" dirty="0"/>
              <a:t> (</a:t>
            </a:r>
            <a:r>
              <a:rPr lang="en-IN" sz="1800" dirty="0"/>
              <a:t>Hindi)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C7FF90-DC37-CE10-8006-7D4FF5C982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4095" y="589935"/>
            <a:ext cx="3455688" cy="534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671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EB7E2-9B4B-F266-4CE6-D4D8C46CE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E8D7A-611D-605A-EBCE-B9C64E1AE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E34244-EAD2-ADEE-B3E6-62124A8DA5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3265174"/>
            <a:ext cx="918087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6B476A2-185A-252D-8155-36DEF8D9BA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3" y="1489194"/>
            <a:ext cx="8470491" cy="209914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6609E16-A60F-C78C-F43C-A8F16F532F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497" y="3911505"/>
            <a:ext cx="8539317" cy="2251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4706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9452-3000-DF4A-F633-2C06CB0E4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78DDB4-2D9F-03D1-BCB3-5FEC90B840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developed 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multilingual speech translator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Achieved accurate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speech-to-text conversion using Vosk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multi-language translation with real-time output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text-to-speech for audio output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works efficiently with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latency and good accuracy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549569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A9FE1FA-5D64-73B1-29C5-983B139677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185686"/>
            <a:ext cx="11296682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Vosk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API Documentation –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https://alphacephei.com/vosk/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Kaldi Speech Recognition Toolkit –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https://kaldi-asr.org/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LibreTranslate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API –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https://libretranslate.com/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 Documentation –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https://docs.oracle.com/javase/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Rabiner, L. (1989).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Tutorial on Hidden Markov Models and Selected Applications in Speech Recognition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8467"/>
            <a:ext cx="5257800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938</Words>
  <Application>Microsoft Office PowerPoint</Application>
  <PresentationFormat>Widescreen</PresentationFormat>
  <Paragraphs>157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Times New Roman</vt:lpstr>
      <vt:lpstr>Wingdings</vt:lpstr>
      <vt:lpstr>Office Theme</vt:lpstr>
      <vt:lpstr>Multiple Language Translator Using Vosk API</vt:lpstr>
      <vt:lpstr>Outline</vt:lpstr>
      <vt:lpstr>Introduction</vt:lpstr>
      <vt:lpstr>Introduction</vt:lpstr>
      <vt:lpstr>What is Vosk?</vt:lpstr>
      <vt:lpstr>How Vosk Works</vt:lpstr>
      <vt:lpstr>Features of Vosk</vt:lpstr>
      <vt:lpstr>Vosk Algorithm Working</vt:lpstr>
      <vt:lpstr>Literature Review</vt:lpstr>
      <vt:lpstr>Literature Review</vt:lpstr>
      <vt:lpstr>Literature Review</vt:lpstr>
      <vt:lpstr>Problem Statement</vt:lpstr>
      <vt:lpstr>Objectives</vt:lpstr>
      <vt:lpstr>Proposed Methodology</vt:lpstr>
      <vt:lpstr>System Workflow</vt:lpstr>
      <vt:lpstr>Module Interaction</vt:lpstr>
      <vt:lpstr>Result </vt:lpstr>
      <vt:lpstr>Result </vt:lpstr>
      <vt:lpstr>Outcome 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SANSKRITI MANDAL</cp:lastModifiedBy>
  <cp:revision>10</cp:revision>
  <dcterms:created xsi:type="dcterms:W3CDTF">2025-09-29T05:03:41Z</dcterms:created>
  <dcterms:modified xsi:type="dcterms:W3CDTF">2026-04-13T17:35:36Z</dcterms:modified>
</cp:coreProperties>
</file>